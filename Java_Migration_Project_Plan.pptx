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65D8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0BA5A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Offshore</c:v>
                </c:pt>
                <c:pt idx="1">
                  <c:v>Onshore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67</c:v>
                </c:pt>
                <c:pt idx="1">
                  <c:v>33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4FA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5BBE8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Offshore GCC</c:v>
                </c:pt>
                <c:pt idx="1">
                  <c:v>Onshore FTE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TCS Onshore</c:v>
                </c:pt>
              </c:strCache>
            </c:strRef>
          </c:tx>
          <c:spPr>
            <a:solidFill>
              <a:srgbClr val="0BA5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Q3'26</c:v>
                  </c:pt>
                  <c:pt idx="1">
                    <c:v>Q4'26</c:v>
                  </c:pt>
                  <c:pt idx="2">
                    <c:v>Q1'27</c:v>
                  </c:pt>
                  <c:pt idx="3">
                    <c:v>Q2'27</c:v>
                  </c:pt>
                  <c:pt idx="4">
                    <c:v>Q3'27</c:v>
                  </c:pt>
                  <c:pt idx="5">
                    <c:v>Q4'27</c:v>
                  </c:pt>
                  <c:pt idx="6">
                    <c:v>Q1'28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</c:v>
                </c:pt>
                <c:pt idx="1">
                  <c:v>6</c:v>
                </c:pt>
                <c:pt idx="2">
                  <c:v>7</c:v>
                </c:pt>
                <c:pt idx="3">
                  <c:v>7</c:v>
                </c:pt>
                <c:pt idx="4">
                  <c:v>2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TCS Offshore</c:v>
                </c:pt>
              </c:strCache>
            </c:strRef>
          </c:tx>
          <c:spPr>
            <a:solidFill>
              <a:srgbClr val="1565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Q3'26</c:v>
                  </c:pt>
                  <c:pt idx="1">
                    <c:v>Q4'26</c:v>
                  </c:pt>
                  <c:pt idx="2">
                    <c:v>Q1'27</c:v>
                  </c:pt>
                  <c:pt idx="3">
                    <c:v>Q2'27</c:v>
                  </c:pt>
                  <c:pt idx="4">
                    <c:v>Q3'27</c:v>
                  </c:pt>
                  <c:pt idx="5">
                    <c:v>Q4'27</c:v>
                  </c:pt>
                  <c:pt idx="6">
                    <c:v>Q1'28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</c:v>
                </c:pt>
                <c:pt idx="1">
                  <c:v>12</c:v>
                </c:pt>
                <c:pt idx="2">
                  <c:v>14</c:v>
                </c:pt>
                <c:pt idx="3">
                  <c:v>14</c:v>
                </c:pt>
                <c:pt idx="4">
                  <c:v>4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FTE Onshore</c:v>
                </c:pt>
              </c:strCache>
            </c:strRef>
          </c:tx>
          <c:spPr>
            <a:solidFill>
              <a:srgbClr val="5BBE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Q3'26</c:v>
                  </c:pt>
                  <c:pt idx="1">
                    <c:v>Q4'26</c:v>
                  </c:pt>
                  <c:pt idx="2">
                    <c:v>Q1'27</c:v>
                  </c:pt>
                  <c:pt idx="3">
                    <c:v>Q2'27</c:v>
                  </c:pt>
                  <c:pt idx="4">
                    <c:v>Q3'27</c:v>
                  </c:pt>
                  <c:pt idx="5">
                    <c:v>Q4'27</c:v>
                  </c:pt>
                  <c:pt idx="6">
                    <c:v>Q1'28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6</c:v>
                </c:pt>
                <c:pt idx="5">
                  <c:v>7</c:v>
                </c:pt>
                <c:pt idx="6">
                  <c:v>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GCC Offshore</c:v>
                </c:pt>
              </c:strCache>
            </c:strRef>
          </c:tx>
          <c:spPr>
            <a:solidFill>
              <a:srgbClr val="0E4F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Q3'26</c:v>
                  </c:pt>
                  <c:pt idx="1">
                    <c:v>Q4'26</c:v>
                  </c:pt>
                  <c:pt idx="2">
                    <c:v>Q1'27</c:v>
                  </c:pt>
                  <c:pt idx="3">
                    <c:v>Q2'27</c:v>
                  </c:pt>
                  <c:pt idx="4">
                    <c:v>Q3'27</c:v>
                  </c:pt>
                  <c:pt idx="5">
                    <c:v>Q4'27</c:v>
                  </c:pt>
                  <c:pt idx="6">
                    <c:v>Q1'28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14</c:v>
                </c:pt>
                <c:pt idx="5">
                  <c:v>17</c:v>
                </c:pt>
                <c:pt idx="6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7768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FF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7768C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7768C"/>
                    </a:solidFill>
                    <a:latin typeface="Arial"/>
                  </a:rPr>
                  <a:t>Headcount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776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D3B4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3" Type="http://schemas.openxmlformats.org/officeDocument/2006/relationships/chart" Target="/ppt/charts/chart2.xml"/><Relationship Id="rId2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91840"/>
            <a:ext cx="4937760" cy="4937760"/>
          </a:xfrm>
          <a:prstGeom prst="ellipse">
            <a:avLst/>
          </a:prstGeom>
          <a:solidFill>
            <a:srgbClr val="13335B"/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4206240"/>
            <a:ext cx="3108960" cy="3108960"/>
          </a:xfrm>
          <a:prstGeom prst="ellipse">
            <a:avLst/>
          </a:prstGeom>
          <a:solidFill>
            <a:srgbClr val="184272"/>
          </a:solidFill>
          <a:ln/>
        </p:spPr>
      </p:sp>
      <p:sp>
        <p:nvSpPr>
          <p:cNvPr id="4" name="Shape 2"/>
          <p:cNvSpPr/>
          <p:nvPr/>
        </p:nvSpPr>
        <p:spPr>
          <a:xfrm>
            <a:off x="10469880" y="4892040"/>
            <a:ext cx="1737360" cy="1737360"/>
          </a:xfrm>
          <a:prstGeom prst="ellipse">
            <a:avLst/>
          </a:prstGeom>
          <a:solidFill>
            <a:srgbClr val="1565D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5349240"/>
            <a:ext cx="822960" cy="822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91440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13335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9144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8FC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PLANNING DECK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" y="15544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Disbursement System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20574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Migration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777240" y="32004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roadmap, resourcing model &amp; governance for the modernization of the legacy payments platform.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5074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" y="53218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– Q1 2028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520440" y="5074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MODEL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520440" y="53218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migration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263640" y="5074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FA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RESOURCING SHIFT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263640" y="53218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→ FTE  ·  Jun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56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30000" y="475488"/>
            <a:ext cx="146304" cy="146304"/>
          </a:xfrm>
          <a:prstGeom prst="ellipse">
            <a:avLst/>
          </a:prstGeom>
          <a:solidFill>
            <a:srgbClr val="1565D8"/>
          </a:solidFill>
          <a:ln/>
        </p:spPr>
      </p:sp>
      <p:sp>
        <p:nvSpPr>
          <p:cNvPr id="5" name="Shape 3"/>
          <p:cNvSpPr/>
          <p:nvPr/>
        </p:nvSpPr>
        <p:spPr>
          <a:xfrm>
            <a:off x="11649456" y="475488"/>
            <a:ext cx="146304" cy="146304"/>
          </a:xfrm>
          <a:prstGeom prst="ellipse">
            <a:avLst/>
          </a:prstGeom>
          <a:solidFill>
            <a:srgbClr val="0BA5A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1732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3677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AF1F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76479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60020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1435608" y="2039112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56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68096" y="235000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7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delivery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83280" y="141732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9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84448" y="163677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AF1F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1764792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51960" y="160020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4270248" y="2039112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56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602736" y="235000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7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to hypercare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17920" y="141732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9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19088" y="163677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AF1F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1764792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086600" y="160020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</a:t>
            </a:r>
            <a:endParaRPr lang="en-US" sz="2800" dirty="0"/>
          </a:p>
        </p:txBody>
      </p:sp>
      <p:sp>
        <p:nvSpPr>
          <p:cNvPr id="22" name="Text 17"/>
          <p:cNvSpPr/>
          <p:nvPr/>
        </p:nvSpPr>
        <p:spPr>
          <a:xfrm>
            <a:off x="7104888" y="2039112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56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TEAM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437376" y="235000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7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onshore/offshore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9052560" y="1417320"/>
            <a:ext cx="267004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9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253728" y="163677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AF1F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1744" y="1764792"/>
            <a:ext cx="310896" cy="31089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921240" y="1600200"/>
            <a:ext cx="1709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2027</a:t>
            </a:r>
            <a:endParaRPr lang="en-US" sz="2800" dirty="0"/>
          </a:p>
        </p:txBody>
      </p:sp>
      <p:sp>
        <p:nvSpPr>
          <p:cNvPr id="28" name="Text 22"/>
          <p:cNvSpPr/>
          <p:nvPr/>
        </p:nvSpPr>
        <p:spPr>
          <a:xfrm>
            <a:off x="9939528" y="2039112"/>
            <a:ext cx="1709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156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9272016" y="2350008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7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cutover window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48640" y="3035808"/>
            <a:ext cx="5440680" cy="3246120"/>
          </a:xfrm>
          <a:prstGeom prst="roundRect">
            <a:avLst>
              <a:gd name="adj" fmla="val 2535"/>
            </a:avLst>
          </a:prstGeom>
          <a:solidFill>
            <a:srgbClr val="F4F8FE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868680" y="32735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6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OVERVIEW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868680" y="361188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D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Payment Disbursement System will be re-platformed from the legacy monolith to a modern, cloud-ready Java stack (Java 21, Spring Boot microservices). The migration is delivered in phases to de-risk cutover of business-critical payment flows while keeping the existing platform fully operational.</a:t>
            </a: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2D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begins with a TCS contractor-led build team and transitions in June 2027 to a permanent, in-house model led by full-time employees and the offshore GCC.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6355080" y="3273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6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OBJECTIVES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6355080" y="3639312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EAF1FB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3758184"/>
            <a:ext cx="274320" cy="27432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99516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Modernize &amp; scale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6995160" y="3922776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for higher throughput and resilient disbursements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6355080" y="4306824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EAF1FB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4425696"/>
            <a:ext cx="274320" cy="27432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995160" y="4325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compliance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6995160" y="4590288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Auditability, security and regulatory alignment by design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6355080" y="4974336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EAF1FB"/>
          </a:solidFill>
          <a:ln/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5093208"/>
            <a:ext cx="274320" cy="27432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6995160" y="49926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tech debt</a:t>
            </a:r>
            <a:endParaRPr lang="en-US" sz="1400" dirty="0"/>
          </a:p>
        </p:txBody>
      </p:sp>
      <p:sp>
        <p:nvSpPr>
          <p:cNvPr id="45" name="Text 36"/>
          <p:cNvSpPr/>
          <p:nvPr/>
        </p:nvSpPr>
        <p:spPr>
          <a:xfrm>
            <a:off x="6995160" y="5257800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legacy dependencies and lower run-cost</a:t>
            </a:r>
            <a:endParaRPr lang="en-US" sz="1100" dirty="0"/>
          </a:p>
        </p:txBody>
      </p:sp>
      <p:sp>
        <p:nvSpPr>
          <p:cNvPr id="46" name="Shape 37"/>
          <p:cNvSpPr/>
          <p:nvPr/>
        </p:nvSpPr>
        <p:spPr>
          <a:xfrm>
            <a:off x="6355080" y="5641848"/>
            <a:ext cx="512064" cy="512064"/>
          </a:xfrm>
          <a:prstGeom prst="roundRect">
            <a:avLst>
              <a:gd name="adj" fmla="val 14286"/>
            </a:avLst>
          </a:prstGeom>
          <a:solidFill>
            <a:srgbClr val="EAF1FB"/>
          </a:solidFill>
          <a:ln/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952" y="5760720"/>
            <a:ext cx="274320" cy="274320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6995160" y="56601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internal capability</a:t>
            </a:r>
            <a:endParaRPr lang="en-US" sz="1400" dirty="0"/>
          </a:p>
        </p:txBody>
      </p:sp>
      <p:sp>
        <p:nvSpPr>
          <p:cNvPr id="49" name="Text 39"/>
          <p:cNvSpPr/>
          <p:nvPr/>
        </p:nvSpPr>
        <p:spPr>
          <a:xfrm>
            <a:off x="6995160" y="5925312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delivery and run to FTE + GCC teams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56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Resourcing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30000" y="475488"/>
            <a:ext cx="146304" cy="146304"/>
          </a:xfrm>
          <a:prstGeom prst="ellipse">
            <a:avLst/>
          </a:prstGeom>
          <a:solidFill>
            <a:srgbClr val="1565D8"/>
          </a:solidFill>
          <a:ln/>
        </p:spPr>
      </p:sp>
      <p:sp>
        <p:nvSpPr>
          <p:cNvPr id="5" name="Shape 3"/>
          <p:cNvSpPr/>
          <p:nvPr/>
        </p:nvSpPr>
        <p:spPr>
          <a:xfrm>
            <a:off x="11649456" y="475488"/>
            <a:ext cx="146304" cy="146304"/>
          </a:xfrm>
          <a:prstGeom prst="ellipse">
            <a:avLst/>
          </a:prstGeom>
          <a:solidFill>
            <a:srgbClr val="0BA5A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98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7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delivery team transitions from a TCS contractor build squad to a permanent FTE-led model at the June 2027 milestone, shifting capability and run ownership in-house.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07492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4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225856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0E4FA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25856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41248" y="275234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Contractor Build Team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41248" y="311810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start  →  June 2027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40080" y="3429000"/>
          <a:ext cx="23317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3154680" y="3794760"/>
            <a:ext cx="182880" cy="182880"/>
          </a:xfrm>
          <a:prstGeom prst="ellipse">
            <a:avLst/>
          </a:prstGeom>
          <a:solidFill>
            <a:srgbClr val="0BA5A0"/>
          </a:solidFill>
          <a:ln/>
        </p:spPr>
      </p:sp>
      <p:sp>
        <p:nvSpPr>
          <p:cNvPr id="14" name="Text 11"/>
          <p:cNvSpPr/>
          <p:nvPr/>
        </p:nvSpPr>
        <p:spPr>
          <a:xfrm>
            <a:off x="3456432" y="36027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456432" y="399592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7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onshore contractors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154680" y="4617720"/>
            <a:ext cx="182880" cy="182880"/>
          </a:xfrm>
          <a:prstGeom prst="ellipse">
            <a:avLst/>
          </a:prstGeom>
          <a:solidFill>
            <a:srgbClr val="1565D8"/>
          </a:solidFill>
          <a:ln/>
        </p:spPr>
      </p:sp>
      <p:sp>
        <p:nvSpPr>
          <p:cNvPr id="17" name="Text 14"/>
          <p:cNvSpPr/>
          <p:nvPr/>
        </p:nvSpPr>
        <p:spPr>
          <a:xfrm>
            <a:off x="3456432" y="44256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456432" y="481888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7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 offshore contractors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779008" y="3657600"/>
            <a:ext cx="786384" cy="786384"/>
          </a:xfrm>
          <a:prstGeom prst="ellipse">
            <a:avLst/>
          </a:prstGeom>
          <a:solidFill>
            <a:srgbClr val="F2A114"/>
          </a:solidFill>
          <a:ln/>
          <a:effectLst>
            <a:outerShdw sx="100000" sy="100000" kx="0" ky="0" algn="bl" rotWithShape="0" blurRad="114300" dist="38100" dir="5400000">
              <a:srgbClr val="0A2540">
                <a:alpha val="12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822192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48640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486400" y="4498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5349240" y="47731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7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6537960" y="1965960"/>
            <a:ext cx="507492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A254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812280" y="2258568"/>
            <a:ext cx="1691640" cy="38404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26" name="Text 22"/>
          <p:cNvSpPr/>
          <p:nvPr/>
        </p:nvSpPr>
        <p:spPr>
          <a:xfrm>
            <a:off x="6812280" y="225856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6830568" y="275234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FTE-Led Permanent Model</a:t>
            </a:r>
            <a:endParaRPr lang="en-US" sz="1900" dirty="0"/>
          </a:p>
        </p:txBody>
      </p:sp>
      <p:sp>
        <p:nvSpPr>
          <p:cNvPr id="28" name="Text 24"/>
          <p:cNvSpPr/>
          <p:nvPr/>
        </p:nvSpPr>
        <p:spPr>
          <a:xfrm>
            <a:off x="6830568" y="311810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2027  →  Run &amp; operate</a:t>
            </a:r>
            <a:endParaRPr lang="en-US" sz="1200" dirty="0"/>
          </a:p>
        </p:txBody>
      </p:sp>
      <p:graphicFrame>
        <p:nvGraphicFramePr>
          <p:cNvPr id="29" name="Chart 1" descr=""/>
          <p:cNvGraphicFramePr/>
          <p:nvPr/>
        </p:nvGraphicFramePr>
        <p:xfrm>
          <a:off x="6629400" y="3429000"/>
          <a:ext cx="233172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0" name="Shape 25"/>
          <p:cNvSpPr/>
          <p:nvPr/>
        </p:nvSpPr>
        <p:spPr>
          <a:xfrm>
            <a:off x="9144000" y="3794760"/>
            <a:ext cx="182880" cy="182880"/>
          </a:xfrm>
          <a:prstGeom prst="ellipse">
            <a:avLst/>
          </a:prstGeom>
          <a:solidFill>
            <a:srgbClr val="5BBE8E"/>
          </a:solidFill>
          <a:ln/>
        </p:spPr>
      </p:sp>
      <p:sp>
        <p:nvSpPr>
          <p:cNvPr id="31" name="Text 26"/>
          <p:cNvSpPr/>
          <p:nvPr/>
        </p:nvSpPr>
        <p:spPr>
          <a:xfrm>
            <a:off x="9445752" y="36027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200" dirty="0"/>
          </a:p>
        </p:txBody>
      </p:sp>
      <p:sp>
        <p:nvSpPr>
          <p:cNvPr id="32" name="Text 27"/>
          <p:cNvSpPr/>
          <p:nvPr/>
        </p:nvSpPr>
        <p:spPr>
          <a:xfrm>
            <a:off x="9445752" y="399592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7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Onshore full-time employees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9144000" y="4617720"/>
            <a:ext cx="182880" cy="182880"/>
          </a:xfrm>
          <a:prstGeom prst="ellipse">
            <a:avLst/>
          </a:prstGeom>
          <a:solidFill>
            <a:srgbClr val="0E4FAE"/>
          </a:solidFill>
          <a:ln/>
        </p:spPr>
      </p:sp>
      <p:sp>
        <p:nvSpPr>
          <p:cNvPr id="34" name="Text 29"/>
          <p:cNvSpPr/>
          <p:nvPr/>
        </p:nvSpPr>
        <p:spPr>
          <a:xfrm>
            <a:off x="9445752" y="44256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200" dirty="0"/>
          </a:p>
        </p:txBody>
      </p:sp>
      <p:sp>
        <p:nvSpPr>
          <p:cNvPr id="35" name="Text 30"/>
          <p:cNvSpPr/>
          <p:nvPr/>
        </p:nvSpPr>
        <p:spPr>
          <a:xfrm>
            <a:off x="9445752" y="481888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7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GCC resources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56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Mix Across the Delivery Window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30000" y="475488"/>
            <a:ext cx="146304" cy="146304"/>
          </a:xfrm>
          <a:prstGeom prst="ellipse">
            <a:avLst/>
          </a:prstGeom>
          <a:solidFill>
            <a:srgbClr val="1565D8"/>
          </a:solidFill>
          <a:ln/>
        </p:spPr>
      </p:sp>
      <p:sp>
        <p:nvSpPr>
          <p:cNvPr id="5" name="Shape 3"/>
          <p:cNvSpPr/>
          <p:nvPr/>
        </p:nvSpPr>
        <p:spPr>
          <a:xfrm>
            <a:off x="11649456" y="475488"/>
            <a:ext cx="146304" cy="146304"/>
          </a:xfrm>
          <a:prstGeom prst="ellipse">
            <a:avLst/>
          </a:prstGeom>
          <a:solidFill>
            <a:srgbClr val="0BA5A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98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7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blended headcount by quarter. The team composition shifts from TCS contractors to FTE + GCC resources around the June 2027 handover.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1965960"/>
          <a:ext cx="781812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549640" y="1965960"/>
            <a:ext cx="3063240" cy="4251960"/>
          </a:xfrm>
          <a:prstGeom prst="roundRect">
            <a:avLst>
              <a:gd name="adj" fmla="val 2985"/>
            </a:avLst>
          </a:prstGeom>
          <a:solidFill>
            <a:srgbClr val="0A2540"/>
          </a:solidFill>
          <a:ln/>
        </p:spPr>
      </p:sp>
      <p:sp>
        <p:nvSpPr>
          <p:cNvPr id="9" name="Text 6"/>
          <p:cNvSpPr/>
          <p:nvPr/>
        </p:nvSpPr>
        <p:spPr>
          <a:xfrm>
            <a:off x="8796528" y="221284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PRINCIPLES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796528" y="2651760"/>
            <a:ext cx="384048" cy="384048"/>
          </a:xfrm>
          <a:prstGeom prst="rect">
            <a:avLst/>
          </a:prstGeom>
          <a:solidFill>
            <a:srgbClr val="0B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8796528" y="2651760"/>
            <a:ext cx="384048" cy="384048"/>
          </a:xfrm>
          <a:prstGeom prst="ellipse">
            <a:avLst/>
          </a:prstGeom>
          <a:solidFill>
            <a:srgbClr val="0BA5A0"/>
          </a:solidFill>
          <a:ln/>
        </p:spPr>
      </p:sp>
      <p:sp>
        <p:nvSpPr>
          <p:cNvPr id="12" name="Text 9"/>
          <p:cNvSpPr/>
          <p:nvPr/>
        </p:nvSpPr>
        <p:spPr>
          <a:xfrm>
            <a:off x="8796528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326880" y="2633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transfer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326880" y="290779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AF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KT runs in the 2 quarters before handover.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796528" y="3520440"/>
            <a:ext cx="384048" cy="384048"/>
          </a:xfrm>
          <a:prstGeom prst="rect">
            <a:avLst/>
          </a:prstGeom>
          <a:solidFill>
            <a:srgbClr val="0B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8796528" y="3520440"/>
            <a:ext cx="384048" cy="384048"/>
          </a:xfrm>
          <a:prstGeom prst="ellipse">
            <a:avLst/>
          </a:prstGeom>
          <a:solidFill>
            <a:srgbClr val="0BA5A0"/>
          </a:solidFill>
          <a:ln/>
        </p:spPr>
      </p:sp>
      <p:sp>
        <p:nvSpPr>
          <p:cNvPr id="17" name="Text 14"/>
          <p:cNvSpPr/>
          <p:nvPr/>
        </p:nvSpPr>
        <p:spPr>
          <a:xfrm>
            <a:off x="8796528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326880" y="3502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delivery gap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326880" y="37764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AF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FTE/GCC ramp overlaps TCS rampdown to protect velocity.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796528" y="4389120"/>
            <a:ext cx="384048" cy="384048"/>
          </a:xfrm>
          <a:prstGeom prst="rect">
            <a:avLst/>
          </a:prstGeom>
          <a:solidFill>
            <a:srgbClr val="0B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8796528" y="4389120"/>
            <a:ext cx="384048" cy="384048"/>
          </a:xfrm>
          <a:prstGeom prst="ellipse">
            <a:avLst/>
          </a:prstGeom>
          <a:solidFill>
            <a:srgbClr val="0BA5A0"/>
          </a:solidFill>
          <a:ln/>
        </p:spPr>
      </p:sp>
      <p:sp>
        <p:nvSpPr>
          <p:cNvPr id="22" name="Text 19"/>
          <p:cNvSpPr/>
          <p:nvPr/>
        </p:nvSpPr>
        <p:spPr>
          <a:xfrm>
            <a:off x="8796528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9326880" y="4370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ownership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326880" y="46451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AF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run move fully in-house post Jun 2027.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796528" y="5257800"/>
            <a:ext cx="384048" cy="384048"/>
          </a:xfrm>
          <a:prstGeom prst="rect">
            <a:avLst/>
          </a:prstGeom>
          <a:solidFill>
            <a:srgbClr val="0BA5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8796528" y="5257800"/>
            <a:ext cx="384048" cy="384048"/>
          </a:xfrm>
          <a:prstGeom prst="ellipse">
            <a:avLst/>
          </a:prstGeom>
          <a:solidFill>
            <a:srgbClr val="0BA5A0"/>
          </a:solidFill>
          <a:ln/>
        </p:spPr>
      </p:sp>
      <p:sp>
        <p:nvSpPr>
          <p:cNvPr id="27" name="Text 24"/>
          <p:cNvSpPr/>
          <p:nvPr/>
        </p:nvSpPr>
        <p:spPr>
          <a:xfrm>
            <a:off x="8796528" y="5257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326880" y="5239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steady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9326880" y="55138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AF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~30 FTE-equivalent maintained through cutover.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56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30000" y="475488"/>
            <a:ext cx="146304" cy="146304"/>
          </a:xfrm>
          <a:prstGeom prst="ellipse">
            <a:avLst/>
          </a:prstGeom>
          <a:solidFill>
            <a:srgbClr val="1565D8"/>
          </a:solidFill>
          <a:ln/>
        </p:spPr>
      </p:sp>
      <p:sp>
        <p:nvSpPr>
          <p:cNvPr id="5" name="Shape 3"/>
          <p:cNvSpPr/>
          <p:nvPr/>
        </p:nvSpPr>
        <p:spPr>
          <a:xfrm>
            <a:off x="11649456" y="475488"/>
            <a:ext cx="146304" cy="146304"/>
          </a:xfrm>
          <a:prstGeom prst="ellipse">
            <a:avLst/>
          </a:prstGeom>
          <a:solidFill>
            <a:srgbClr val="0BA5A0"/>
          </a:solidFill>
          <a:ln/>
        </p:spPr>
      </p:sp>
      <p:sp>
        <p:nvSpPr>
          <p:cNvPr id="6" name="Text 4"/>
          <p:cNvSpPr/>
          <p:nvPr/>
        </p:nvSpPr>
        <p:spPr>
          <a:xfrm>
            <a:off x="3063240" y="1627632"/>
            <a:ext cx="12213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7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Q3'26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63240" y="1975104"/>
            <a:ext cx="0" cy="3474720"/>
          </a:xfrm>
          <a:prstGeom prst="line">
            <a:avLst/>
          </a:prstGeom>
          <a:noFill/>
          <a:ln w="12700">
            <a:solidFill>
              <a:srgbClr val="ECF1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84617" y="1627632"/>
            <a:ext cx="12213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7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Q4'26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84617" y="1975104"/>
            <a:ext cx="0" cy="3474720"/>
          </a:xfrm>
          <a:prstGeom prst="line">
            <a:avLst/>
          </a:prstGeom>
          <a:noFill/>
          <a:ln w="12700">
            <a:solidFill>
              <a:srgbClr val="ECF1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05994" y="1627632"/>
            <a:ext cx="12213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7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Q1'27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05994" y="1975104"/>
            <a:ext cx="0" cy="3474720"/>
          </a:xfrm>
          <a:prstGeom prst="line">
            <a:avLst/>
          </a:prstGeom>
          <a:noFill/>
          <a:ln w="12700">
            <a:solidFill>
              <a:srgbClr val="ECF1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7371" y="1627632"/>
            <a:ext cx="12213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7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Q2'27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7371" y="1975104"/>
            <a:ext cx="0" cy="3474720"/>
          </a:xfrm>
          <a:prstGeom prst="line">
            <a:avLst/>
          </a:prstGeom>
          <a:noFill/>
          <a:ln w="12700">
            <a:solidFill>
              <a:srgbClr val="ECF1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48749" y="1627632"/>
            <a:ext cx="12213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7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Q3'27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48749" y="1975104"/>
            <a:ext cx="0" cy="3474720"/>
          </a:xfrm>
          <a:prstGeom prst="line">
            <a:avLst/>
          </a:prstGeom>
          <a:noFill/>
          <a:ln w="12700">
            <a:solidFill>
              <a:srgbClr val="ECF1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70126" y="1627632"/>
            <a:ext cx="12213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7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Q4'27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70126" y="1975104"/>
            <a:ext cx="0" cy="3474720"/>
          </a:xfrm>
          <a:prstGeom prst="line">
            <a:avLst/>
          </a:prstGeom>
          <a:noFill/>
          <a:ln w="12700">
            <a:solidFill>
              <a:srgbClr val="ECF1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91503" y="1627632"/>
            <a:ext cx="12213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7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Q1'28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391503" y="1975104"/>
            <a:ext cx="0" cy="3474720"/>
          </a:xfrm>
          <a:prstGeom prst="line">
            <a:avLst/>
          </a:prstGeom>
          <a:noFill/>
          <a:ln w="12700">
            <a:solidFill>
              <a:srgbClr val="ECF1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12880" y="1975104"/>
            <a:ext cx="0" cy="3474720"/>
          </a:xfrm>
          <a:prstGeom prst="line">
            <a:avLst/>
          </a:prstGeom>
          <a:noFill/>
          <a:ln w="12700">
            <a:solidFill>
              <a:srgbClr val="ECF1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63240" y="2011680"/>
            <a:ext cx="8549640" cy="566928"/>
          </a:xfrm>
          <a:prstGeom prst="rect">
            <a:avLst/>
          </a:prstGeom>
          <a:solidFill>
            <a:srgbClr val="F4F8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21031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212848"/>
            <a:ext cx="182880" cy="18288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024128" y="201168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Assessment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118104" y="2130552"/>
            <a:ext cx="1111649" cy="329184"/>
          </a:xfrm>
          <a:prstGeom prst="roundRect">
            <a:avLst>
              <a:gd name="adj" fmla="val 22222"/>
            </a:avLst>
          </a:prstGeom>
          <a:solidFill>
            <a:srgbClr val="0BA5A0"/>
          </a:solidFill>
          <a:ln/>
          <a:effectLst>
            <a:outerShdw sx="100000" sy="100000" kx="0" ky="0" algn="bl" rotWithShape="0" blurRad="88900" dist="25400" dir="5400000">
              <a:srgbClr val="0A2540">
                <a:alpha val="9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48640" y="2670048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779776"/>
            <a:ext cx="182880" cy="18288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024128" y="257860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Foundation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4339481" y="2697480"/>
            <a:ext cx="1111649" cy="329184"/>
          </a:xfrm>
          <a:prstGeom prst="roundRect">
            <a:avLst>
              <a:gd name="adj" fmla="val 22222"/>
            </a:avLst>
          </a:prstGeom>
          <a:solidFill>
            <a:srgbClr val="1565D8"/>
          </a:solidFill>
          <a:ln/>
          <a:effectLst>
            <a:outerShdw sx="100000" sy="100000" kx="0" ky="0" algn="bl" rotWithShape="0" blurRad="88900" dist="25400" dir="5400000">
              <a:srgbClr val="0A2540">
                <a:alpha val="9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3063240" y="3145536"/>
            <a:ext cx="8549640" cy="566928"/>
          </a:xfrm>
          <a:prstGeom prst="rect">
            <a:avLst/>
          </a:prstGeom>
          <a:solidFill>
            <a:srgbClr val="F4F8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48640" y="3236976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346704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024128" y="3145536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Migration — Build</a:t>
            </a:r>
            <a:endParaRPr lang="en-US" sz="1150" dirty="0"/>
          </a:p>
        </p:txBody>
      </p:sp>
      <p:sp>
        <p:nvSpPr>
          <p:cNvPr id="34" name="Shape 29"/>
          <p:cNvSpPr/>
          <p:nvPr/>
        </p:nvSpPr>
        <p:spPr>
          <a:xfrm>
            <a:off x="5560858" y="3264408"/>
            <a:ext cx="2333026" cy="329184"/>
          </a:xfrm>
          <a:prstGeom prst="roundRect">
            <a:avLst>
              <a:gd name="adj" fmla="val 22222"/>
            </a:avLst>
          </a:prstGeom>
          <a:solidFill>
            <a:srgbClr val="1565D8"/>
          </a:solidFill>
          <a:ln/>
          <a:effectLst>
            <a:outerShdw sx="100000" sy="100000" kx="0" ky="0" algn="bl" rotWithShape="0" blurRad="88900" dist="25400" dir="5400000">
              <a:srgbClr val="0A2540">
                <a:alpha val="9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548640" y="3803904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913632"/>
            <a:ext cx="182880" cy="18288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024128" y="3712464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Cutover &amp; Migration</a:t>
            </a:r>
            <a:endParaRPr lang="en-US" sz="1150" dirty="0"/>
          </a:p>
        </p:txBody>
      </p:sp>
      <p:sp>
        <p:nvSpPr>
          <p:cNvPr id="38" name="Shape 32"/>
          <p:cNvSpPr/>
          <p:nvPr/>
        </p:nvSpPr>
        <p:spPr>
          <a:xfrm>
            <a:off x="8003613" y="3831336"/>
            <a:ext cx="2333026" cy="329184"/>
          </a:xfrm>
          <a:prstGeom prst="roundRect">
            <a:avLst>
              <a:gd name="adj" fmla="val 22222"/>
            </a:avLst>
          </a:prstGeom>
          <a:solidFill>
            <a:srgbClr val="0E4FAE"/>
          </a:solidFill>
          <a:ln/>
          <a:effectLst>
            <a:outerShdw sx="100000" sy="100000" kx="0" ky="0" algn="bl" rotWithShape="0" blurRad="88900" dist="25400" dir="5400000">
              <a:srgbClr val="0A2540">
                <a:alpha val="9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3063240" y="4279392"/>
            <a:ext cx="8549640" cy="566928"/>
          </a:xfrm>
          <a:prstGeom prst="rect">
            <a:avLst/>
          </a:prstGeom>
          <a:solidFill>
            <a:srgbClr val="F4F8F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548640" y="437083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/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480560"/>
            <a:ext cx="182880" cy="18288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1024128" y="427939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Stabilization &amp; Hypercare</a:t>
            </a:r>
            <a:endParaRPr lang="en-US" sz="1150" dirty="0"/>
          </a:p>
        </p:txBody>
      </p:sp>
      <p:sp>
        <p:nvSpPr>
          <p:cNvPr id="43" name="Shape 36"/>
          <p:cNvSpPr/>
          <p:nvPr/>
        </p:nvSpPr>
        <p:spPr>
          <a:xfrm>
            <a:off x="10446367" y="4398264"/>
            <a:ext cx="1111649" cy="329184"/>
          </a:xfrm>
          <a:prstGeom prst="roundRect">
            <a:avLst>
              <a:gd name="adj" fmla="val 22222"/>
            </a:avLst>
          </a:prstGeom>
          <a:solidFill>
            <a:srgbClr val="0BA5A0"/>
          </a:solidFill>
          <a:ln/>
          <a:effectLst>
            <a:outerShdw sx="100000" sy="100000" kx="0" ky="0" algn="bl" rotWithShape="0" blurRad="88900" dist="25400" dir="5400000">
              <a:srgbClr val="0A2540">
                <a:alpha val="9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548640" y="493776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/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5047488"/>
            <a:ext cx="182880" cy="18288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024128" y="48463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Transfer (KT)</a:t>
            </a:r>
            <a:endParaRPr lang="en-US" sz="1150" dirty="0"/>
          </a:p>
        </p:txBody>
      </p:sp>
      <p:sp>
        <p:nvSpPr>
          <p:cNvPr id="47" name="Shape 39"/>
          <p:cNvSpPr/>
          <p:nvPr/>
        </p:nvSpPr>
        <p:spPr>
          <a:xfrm>
            <a:off x="6782235" y="4965192"/>
            <a:ext cx="2333026" cy="329184"/>
          </a:xfrm>
          <a:prstGeom prst="roundRect">
            <a:avLst>
              <a:gd name="adj" fmla="val 22222"/>
            </a:avLst>
          </a:prstGeom>
          <a:solidFill>
            <a:srgbClr val="F2A114"/>
          </a:solidFill>
          <a:ln/>
          <a:effectLst>
            <a:outerShdw sx="100000" sy="100000" kx="0" ky="0" algn="bl" rotWithShape="0" blurRad="88900" dist="25400" dir="5400000">
              <a:srgbClr val="0A2540">
                <a:alpha val="9000"/>
              </a:srgbClr>
            </a:outerShdw>
          </a:effectLst>
        </p:spPr>
      </p:sp>
      <p:sp>
        <p:nvSpPr>
          <p:cNvPr id="48" name="Shape 40"/>
          <p:cNvSpPr/>
          <p:nvPr/>
        </p:nvSpPr>
        <p:spPr>
          <a:xfrm>
            <a:off x="3063240" y="5413248"/>
            <a:ext cx="8549640" cy="0"/>
          </a:xfrm>
          <a:prstGeom prst="line">
            <a:avLst/>
          </a:prstGeom>
          <a:noFill/>
          <a:ln w="12700">
            <a:solidFill>
              <a:srgbClr val="D8E0EC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7948749" y="1975104"/>
            <a:ext cx="0" cy="3474720"/>
          </a:xfrm>
          <a:prstGeom prst="line">
            <a:avLst/>
          </a:prstGeom>
          <a:noFill/>
          <a:ln w="25400">
            <a:solidFill>
              <a:srgbClr val="F2A114"/>
            </a:solidFill>
            <a:prstDash val="dash"/>
          </a:ln>
        </p:spPr>
      </p:sp>
      <p:sp>
        <p:nvSpPr>
          <p:cNvPr id="50" name="Shape 42"/>
          <p:cNvSpPr/>
          <p:nvPr/>
        </p:nvSpPr>
        <p:spPr>
          <a:xfrm>
            <a:off x="7802445" y="1444752"/>
            <a:ext cx="292608" cy="292608"/>
          </a:xfrm>
          <a:prstGeom prst="diamond">
            <a:avLst/>
          </a:prstGeom>
          <a:solidFill>
            <a:srgbClr val="F2A114"/>
          </a:solidFill>
          <a:ln/>
        </p:spPr>
      </p:sp>
      <p:sp>
        <p:nvSpPr>
          <p:cNvPr id="51" name="Text 43"/>
          <p:cNvSpPr/>
          <p:nvPr/>
        </p:nvSpPr>
        <p:spPr>
          <a:xfrm>
            <a:off x="6257109" y="5486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2A1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2027 — Resourcing handover</a:t>
            </a:r>
            <a:endParaRPr lang="en-US" sz="1050" dirty="0"/>
          </a:p>
        </p:txBody>
      </p:sp>
      <p:sp>
        <p:nvSpPr>
          <p:cNvPr id="52" name="Shape 44"/>
          <p:cNvSpPr/>
          <p:nvPr/>
        </p:nvSpPr>
        <p:spPr>
          <a:xfrm>
            <a:off x="548640" y="6126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1565D8"/>
          </a:solidFill>
          <a:ln/>
        </p:spPr>
      </p:sp>
      <p:sp>
        <p:nvSpPr>
          <p:cNvPr id="53" name="Text 45"/>
          <p:cNvSpPr/>
          <p:nvPr/>
        </p:nvSpPr>
        <p:spPr>
          <a:xfrm>
            <a:off x="896112" y="6035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TCS-led build</a:t>
            </a:r>
            <a:endParaRPr lang="en-US" sz="1050" dirty="0"/>
          </a:p>
        </p:txBody>
      </p:sp>
      <p:sp>
        <p:nvSpPr>
          <p:cNvPr id="54" name="Shape 46"/>
          <p:cNvSpPr/>
          <p:nvPr/>
        </p:nvSpPr>
        <p:spPr>
          <a:xfrm>
            <a:off x="2880360" y="6126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0E4FAE"/>
          </a:solidFill>
          <a:ln/>
        </p:spPr>
      </p:sp>
      <p:sp>
        <p:nvSpPr>
          <p:cNvPr id="55" name="Text 47"/>
          <p:cNvSpPr/>
          <p:nvPr/>
        </p:nvSpPr>
        <p:spPr>
          <a:xfrm>
            <a:off x="3227832" y="6035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FTE/GCC-led</a:t>
            </a:r>
            <a:endParaRPr lang="en-US" sz="1050" dirty="0"/>
          </a:p>
        </p:txBody>
      </p:sp>
      <p:sp>
        <p:nvSpPr>
          <p:cNvPr id="56" name="Shape 48"/>
          <p:cNvSpPr/>
          <p:nvPr/>
        </p:nvSpPr>
        <p:spPr>
          <a:xfrm>
            <a:off x="5212080" y="6126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0BA5A0"/>
          </a:solidFill>
          <a:ln/>
        </p:spPr>
      </p:sp>
      <p:sp>
        <p:nvSpPr>
          <p:cNvPr id="57" name="Text 49"/>
          <p:cNvSpPr/>
          <p:nvPr/>
        </p:nvSpPr>
        <p:spPr>
          <a:xfrm>
            <a:off x="5559552" y="6035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/ stabilize</a:t>
            </a:r>
            <a:endParaRPr lang="en-US" sz="1050" dirty="0"/>
          </a:p>
        </p:txBody>
      </p:sp>
      <p:sp>
        <p:nvSpPr>
          <p:cNvPr id="58" name="Shape 50"/>
          <p:cNvSpPr/>
          <p:nvPr/>
        </p:nvSpPr>
        <p:spPr>
          <a:xfrm>
            <a:off x="7543800" y="6126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F2A114"/>
          </a:solidFill>
          <a:ln/>
        </p:spPr>
      </p:sp>
      <p:sp>
        <p:nvSpPr>
          <p:cNvPr id="59" name="Text 51"/>
          <p:cNvSpPr/>
          <p:nvPr/>
        </p:nvSpPr>
        <p:spPr>
          <a:xfrm>
            <a:off x="7891272" y="6035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transfer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56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Workstreams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30000" y="475488"/>
            <a:ext cx="146304" cy="146304"/>
          </a:xfrm>
          <a:prstGeom prst="ellipse">
            <a:avLst/>
          </a:prstGeom>
          <a:solidFill>
            <a:srgbClr val="1565D8"/>
          </a:solidFill>
          <a:ln/>
        </p:spPr>
      </p:sp>
      <p:sp>
        <p:nvSpPr>
          <p:cNvPr id="5" name="Shape 3"/>
          <p:cNvSpPr/>
          <p:nvPr/>
        </p:nvSpPr>
        <p:spPr>
          <a:xfrm>
            <a:off x="11649456" y="475488"/>
            <a:ext cx="146304" cy="146304"/>
          </a:xfrm>
          <a:prstGeom prst="ellipse">
            <a:avLst/>
          </a:prstGeom>
          <a:solidFill>
            <a:srgbClr val="0BA5A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6304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5564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92024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46120" y="1755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56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24871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Disbursement Engine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2788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7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Re-platform core payment orchestration &amp; scheduling logic.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43400" y="146304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9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17720" y="175564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1920240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40880" y="1755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56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WS2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617720" y="24871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Rails &amp; Gateways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617720" y="2788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7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Re-integrate ACH, wire, RTP and card-network connectors.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138160" y="146304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9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12480" y="1755648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1920240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835640" y="175564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56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WS3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412480" y="24871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412480" y="2788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7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matching, settlement and exception handling.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48640" y="3447288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9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3739896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3904488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246120" y="37398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56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WS4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822960" y="44714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822960" y="47731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7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historical ledgers with integrity validation.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343400" y="3447288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9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617720" y="3739896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3904488"/>
            <a:ext cx="329184" cy="32918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040880" y="37398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56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WS5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4617720" y="44714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APIs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4617720" y="47731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7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modern REST/event APIs to upstream systems.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8138160" y="3447288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9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412480" y="3739896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AF1FB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7072" y="3904488"/>
            <a:ext cx="329184" cy="32918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0835640" y="37398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56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WS6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8412480" y="447141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NFRs</a:t>
            </a:r>
            <a:endParaRPr lang="en-US" sz="1500" dirty="0"/>
          </a:p>
        </p:txBody>
      </p:sp>
      <p:sp>
        <p:nvSpPr>
          <p:cNvPr id="41" name="Text 33"/>
          <p:cNvSpPr/>
          <p:nvPr/>
        </p:nvSpPr>
        <p:spPr>
          <a:xfrm>
            <a:off x="8412480" y="47731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7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access control, performance &amp; resilience.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56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Status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30000" y="475488"/>
            <a:ext cx="146304" cy="146304"/>
          </a:xfrm>
          <a:prstGeom prst="ellipse">
            <a:avLst/>
          </a:prstGeom>
          <a:solidFill>
            <a:srgbClr val="1565D8"/>
          </a:solidFill>
          <a:ln/>
        </p:spPr>
      </p:sp>
      <p:sp>
        <p:nvSpPr>
          <p:cNvPr id="5" name="Shape 3"/>
          <p:cNvSpPr/>
          <p:nvPr/>
        </p:nvSpPr>
        <p:spPr>
          <a:xfrm>
            <a:off x="11649456" y="475488"/>
            <a:ext cx="146304" cy="146304"/>
          </a:xfrm>
          <a:prstGeom prst="ellipse">
            <a:avLst/>
          </a:prstGeom>
          <a:solidFill>
            <a:srgbClr val="0BA5A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984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77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baseline plan view — RAG health, ownership and phase readiness across delivery workstreams.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430000" cy="4572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28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86200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8932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0100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652760" y="1828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286000"/>
            <a:ext cx="11430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2860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Disbursement Engine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886200" y="228600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Mehta (TCS)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243230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/>
        </p:spPr>
      </p:sp>
      <p:sp>
        <p:nvSpPr>
          <p:cNvPr id="17" name="Text 15"/>
          <p:cNvSpPr/>
          <p:nvPr/>
        </p:nvSpPr>
        <p:spPr>
          <a:xfrm>
            <a:off x="5989320" y="243230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01000" y="2487168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E4EBF4"/>
          </a:solidFill>
          <a:ln/>
        </p:spPr>
      </p:sp>
      <p:sp>
        <p:nvSpPr>
          <p:cNvPr id="19" name="Shape 17"/>
          <p:cNvSpPr/>
          <p:nvPr/>
        </p:nvSpPr>
        <p:spPr>
          <a:xfrm>
            <a:off x="8001000" y="2487168"/>
            <a:ext cx="905256" cy="16459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20" name="Text 18"/>
          <p:cNvSpPr/>
          <p:nvPr/>
        </p:nvSpPr>
        <p:spPr>
          <a:xfrm>
            <a:off x="10085832" y="22860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1155680" y="2478024"/>
            <a:ext cx="201168" cy="201168"/>
          </a:xfrm>
          <a:prstGeom prst="ellipse">
            <a:avLst/>
          </a:prstGeom>
          <a:solidFill>
            <a:srgbClr val="2E9E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2852928"/>
            <a:ext cx="11430000" cy="566928"/>
          </a:xfrm>
          <a:prstGeom prst="rect">
            <a:avLst/>
          </a:prstGeom>
          <a:solidFill>
            <a:srgbClr val="F4F8FE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85292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Rails &amp; Gateways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886200" y="285292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Khanna (TCS)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89320" y="2999232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/>
        </p:spPr>
      </p:sp>
      <p:sp>
        <p:nvSpPr>
          <p:cNvPr id="26" name="Text 24"/>
          <p:cNvSpPr/>
          <p:nvPr/>
        </p:nvSpPr>
        <p:spPr>
          <a:xfrm>
            <a:off x="5989320" y="29992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01000" y="3054096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E4EBF4"/>
          </a:solidFill>
          <a:ln/>
        </p:spPr>
      </p:sp>
      <p:sp>
        <p:nvSpPr>
          <p:cNvPr id="28" name="Shape 26"/>
          <p:cNvSpPr/>
          <p:nvPr/>
        </p:nvSpPr>
        <p:spPr>
          <a:xfrm>
            <a:off x="8001000" y="3054096"/>
            <a:ext cx="603504" cy="164592"/>
          </a:xfrm>
          <a:prstGeom prst="roundRect">
            <a:avLst>
              <a:gd name="adj" fmla="val 50000"/>
            </a:avLst>
          </a:prstGeom>
          <a:solidFill>
            <a:srgbClr val="F2A114"/>
          </a:solidFill>
          <a:ln/>
        </p:spPr>
      </p:sp>
      <p:sp>
        <p:nvSpPr>
          <p:cNvPr id="29" name="Text 27"/>
          <p:cNvSpPr/>
          <p:nvPr/>
        </p:nvSpPr>
        <p:spPr>
          <a:xfrm>
            <a:off x="10085832" y="285292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1155680" y="3044952"/>
            <a:ext cx="201168" cy="201168"/>
          </a:xfrm>
          <a:prstGeom prst="ellipse">
            <a:avLst/>
          </a:prstGeom>
          <a:solidFill>
            <a:srgbClr val="F2A1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419856"/>
            <a:ext cx="11430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41985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886200" y="3419856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Iyer (TCS)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89320" y="356616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/>
        </p:spPr>
      </p:sp>
      <p:sp>
        <p:nvSpPr>
          <p:cNvPr id="35" name="Text 33"/>
          <p:cNvSpPr/>
          <p:nvPr/>
        </p:nvSpPr>
        <p:spPr>
          <a:xfrm>
            <a:off x="5989320" y="35661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01000" y="3621024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E4EBF4"/>
          </a:solidFill>
          <a:ln/>
        </p:spPr>
      </p:sp>
      <p:sp>
        <p:nvSpPr>
          <p:cNvPr id="37" name="Shape 35"/>
          <p:cNvSpPr/>
          <p:nvPr/>
        </p:nvSpPr>
        <p:spPr>
          <a:xfrm>
            <a:off x="8001000" y="3621024"/>
            <a:ext cx="402336" cy="16459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38" name="Text 36"/>
          <p:cNvSpPr/>
          <p:nvPr/>
        </p:nvSpPr>
        <p:spPr>
          <a:xfrm>
            <a:off x="10085832" y="341985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1155680" y="3611880"/>
            <a:ext cx="201168" cy="201168"/>
          </a:xfrm>
          <a:prstGeom prst="ellipse">
            <a:avLst/>
          </a:prstGeom>
          <a:solidFill>
            <a:srgbClr val="2E9E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8640" y="3986784"/>
            <a:ext cx="11430000" cy="566928"/>
          </a:xfrm>
          <a:prstGeom prst="rect">
            <a:avLst/>
          </a:prstGeom>
          <a:solidFill>
            <a:srgbClr val="F4F8FE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398678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3886200" y="3986784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Park (FTE)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989320" y="413308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/>
        </p:spPr>
      </p:sp>
      <p:sp>
        <p:nvSpPr>
          <p:cNvPr id="44" name="Text 42"/>
          <p:cNvSpPr/>
          <p:nvPr/>
        </p:nvSpPr>
        <p:spPr>
          <a:xfrm>
            <a:off x="5989320" y="41330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001000" y="4187952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E4EBF4"/>
          </a:solidFill>
          <a:ln/>
        </p:spPr>
      </p:sp>
      <p:sp>
        <p:nvSpPr>
          <p:cNvPr id="46" name="Shape 44"/>
          <p:cNvSpPr/>
          <p:nvPr/>
        </p:nvSpPr>
        <p:spPr>
          <a:xfrm>
            <a:off x="8001000" y="4187952"/>
            <a:ext cx="301752" cy="164592"/>
          </a:xfrm>
          <a:prstGeom prst="roundRect">
            <a:avLst>
              <a:gd name="adj" fmla="val 50000"/>
            </a:avLst>
          </a:prstGeom>
          <a:solidFill>
            <a:srgbClr val="F2A114"/>
          </a:solidFill>
          <a:ln/>
        </p:spPr>
      </p:sp>
      <p:sp>
        <p:nvSpPr>
          <p:cNvPr id="47" name="Text 45"/>
          <p:cNvSpPr/>
          <p:nvPr/>
        </p:nvSpPr>
        <p:spPr>
          <a:xfrm>
            <a:off x="10085832" y="398678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1155680" y="4178808"/>
            <a:ext cx="201168" cy="201168"/>
          </a:xfrm>
          <a:prstGeom prst="ellipse">
            <a:avLst/>
          </a:prstGeom>
          <a:solidFill>
            <a:srgbClr val="F2A1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8640" y="4553712"/>
            <a:ext cx="11430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455371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APIs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3886200" y="455371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Alvarez (TCS)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989320" y="4700016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/>
        </p:spPr>
      </p:sp>
      <p:sp>
        <p:nvSpPr>
          <p:cNvPr id="53" name="Text 51"/>
          <p:cNvSpPr/>
          <p:nvPr/>
        </p:nvSpPr>
        <p:spPr>
          <a:xfrm>
            <a:off x="5989320" y="470001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8001000" y="4754880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E4EBF4"/>
          </a:solidFill>
          <a:ln/>
        </p:spPr>
      </p:sp>
      <p:sp>
        <p:nvSpPr>
          <p:cNvPr id="55" name="Shape 53"/>
          <p:cNvSpPr/>
          <p:nvPr/>
        </p:nvSpPr>
        <p:spPr>
          <a:xfrm>
            <a:off x="8001000" y="4754880"/>
            <a:ext cx="704088" cy="16459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56" name="Text 54"/>
          <p:cNvSpPr/>
          <p:nvPr/>
        </p:nvSpPr>
        <p:spPr>
          <a:xfrm>
            <a:off x="10085832" y="45537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11155680" y="4745736"/>
            <a:ext cx="201168" cy="201168"/>
          </a:xfrm>
          <a:prstGeom prst="ellipse">
            <a:avLst/>
          </a:prstGeom>
          <a:solidFill>
            <a:srgbClr val="2E9E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48640" y="5120640"/>
            <a:ext cx="11430000" cy="566928"/>
          </a:xfrm>
          <a:prstGeom prst="rect">
            <a:avLst/>
          </a:prstGeom>
          <a:solidFill>
            <a:srgbClr val="F4F8FE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5800" y="51206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NFRs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3886200" y="512064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Okafor (FTE)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989320" y="526694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AF1FB"/>
          </a:solidFill>
          <a:ln/>
        </p:spPr>
      </p:sp>
      <p:sp>
        <p:nvSpPr>
          <p:cNvPr id="62" name="Text 60"/>
          <p:cNvSpPr/>
          <p:nvPr/>
        </p:nvSpPr>
        <p:spPr>
          <a:xfrm>
            <a:off x="5989320" y="526694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4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8001000" y="5321808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E4EBF4"/>
          </a:solidFill>
          <a:ln/>
        </p:spPr>
      </p:sp>
      <p:sp>
        <p:nvSpPr>
          <p:cNvPr id="64" name="Shape 62"/>
          <p:cNvSpPr/>
          <p:nvPr/>
        </p:nvSpPr>
        <p:spPr>
          <a:xfrm>
            <a:off x="8001000" y="5321808"/>
            <a:ext cx="201168" cy="164592"/>
          </a:xfrm>
          <a:prstGeom prst="roundRect">
            <a:avLst>
              <a:gd name="adj" fmla="val 50000"/>
            </a:avLst>
          </a:prstGeom>
          <a:solidFill>
            <a:srgbClr val="DC4A3D"/>
          </a:solidFill>
          <a:ln/>
        </p:spPr>
      </p:sp>
      <p:sp>
        <p:nvSpPr>
          <p:cNvPr id="65" name="Text 63"/>
          <p:cNvSpPr/>
          <p:nvPr/>
        </p:nvSpPr>
        <p:spPr>
          <a:xfrm>
            <a:off x="10085832" y="51206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11155680" y="5312664"/>
            <a:ext cx="201168" cy="201168"/>
          </a:xfrm>
          <a:prstGeom prst="ellipse">
            <a:avLst/>
          </a:prstGeom>
          <a:solidFill>
            <a:srgbClr val="DC4A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680960" y="6327648"/>
            <a:ext cx="146304" cy="146304"/>
          </a:xfrm>
          <a:prstGeom prst="ellipse">
            <a:avLst/>
          </a:prstGeom>
          <a:solidFill>
            <a:srgbClr val="2E9E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00416" y="62362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9098280" y="6327648"/>
            <a:ext cx="146304" cy="146304"/>
          </a:xfrm>
          <a:prstGeom prst="ellipse">
            <a:avLst/>
          </a:prstGeom>
          <a:solidFill>
            <a:srgbClr val="F2A1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317736" y="62362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10515600" y="6327648"/>
            <a:ext cx="146304" cy="146304"/>
          </a:xfrm>
          <a:prstGeom prst="ellipse">
            <a:avLst/>
          </a:prstGeom>
          <a:solidFill>
            <a:srgbClr val="DC4A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735056" y="62362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track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56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Mitigations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430000" y="475488"/>
            <a:ext cx="146304" cy="146304"/>
          </a:xfrm>
          <a:prstGeom prst="ellipse">
            <a:avLst/>
          </a:prstGeom>
          <a:solidFill>
            <a:srgbClr val="1565D8"/>
          </a:solidFill>
          <a:ln/>
        </p:spPr>
      </p:sp>
      <p:sp>
        <p:nvSpPr>
          <p:cNvPr id="5" name="Shape 3"/>
          <p:cNvSpPr/>
          <p:nvPr/>
        </p:nvSpPr>
        <p:spPr>
          <a:xfrm>
            <a:off x="11649456" y="475488"/>
            <a:ext cx="146304" cy="146304"/>
          </a:xfrm>
          <a:prstGeom prst="ellipse">
            <a:avLst/>
          </a:prstGeom>
          <a:solidFill>
            <a:srgbClr val="0BA5A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087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760220"/>
            <a:ext cx="365760" cy="365760"/>
          </a:xfrm>
          <a:prstGeom prst="ellipse">
            <a:avLst/>
          </a:prstGeom>
          <a:solidFill>
            <a:srgbClr val="DC4A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7602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163677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continuity during cutover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55080" y="1636776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56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D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Phased, reversible cutover with parallel-run and rollback playbooks.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561320" y="1760220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DC4A3D"/>
          </a:solidFill>
          <a:ln/>
        </p:spPr>
      </p:sp>
      <p:sp>
        <p:nvSpPr>
          <p:cNvPr id="12" name="Text 10"/>
          <p:cNvSpPr/>
          <p:nvPr/>
        </p:nvSpPr>
        <p:spPr>
          <a:xfrm>
            <a:off x="10561320" y="17602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441448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2692908"/>
            <a:ext cx="365760" cy="365760"/>
          </a:xfrm>
          <a:prstGeom prst="ellipse">
            <a:avLst/>
          </a:prstGeom>
          <a:solidFill>
            <a:srgbClr val="F2A114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26929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256946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loss at TCS → FTE handover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355080" y="2569464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56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D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KT from Q1'27; shadowing &amp; runbooks before Jun 2027.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561320" y="2692908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F2A114"/>
          </a:solidFill>
          <a:ln/>
        </p:spPr>
      </p:sp>
      <p:sp>
        <p:nvSpPr>
          <p:cNvPr id="19" name="Text 17"/>
          <p:cNvSpPr/>
          <p:nvPr/>
        </p:nvSpPr>
        <p:spPr>
          <a:xfrm>
            <a:off x="10561320" y="269290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374136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3625596"/>
            <a:ext cx="365760" cy="365760"/>
          </a:xfrm>
          <a:prstGeom prst="ellipse">
            <a:avLst/>
          </a:prstGeom>
          <a:solidFill>
            <a:srgbClr val="F2A114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36255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350215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on ledger migration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355080" y="350215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56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D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reconciliation &amp; dual-write validation gates.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561320" y="3625596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F2A114"/>
          </a:solidFill>
          <a:ln/>
        </p:spPr>
      </p:sp>
      <p:sp>
        <p:nvSpPr>
          <p:cNvPr id="26" name="Text 24"/>
          <p:cNvSpPr/>
          <p:nvPr/>
        </p:nvSpPr>
        <p:spPr>
          <a:xfrm>
            <a:off x="10561320" y="3625596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306824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41248" y="4558284"/>
            <a:ext cx="365760" cy="365760"/>
          </a:xfrm>
          <a:prstGeom prst="ellipse">
            <a:avLst/>
          </a:prstGeom>
          <a:solidFill>
            <a:srgbClr val="F2A114"/>
          </a:solidFill>
          <a:ln/>
        </p:spPr>
      </p:sp>
      <p:sp>
        <p:nvSpPr>
          <p:cNvPr id="29" name="Text 27"/>
          <p:cNvSpPr/>
          <p:nvPr/>
        </p:nvSpPr>
        <p:spPr>
          <a:xfrm>
            <a:off x="841248" y="45582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63040" y="44348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ramp-up capacity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355080" y="443484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56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D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hiring pipeline; overlap with TCS to protect velocity.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0561320" y="4558284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F2A114"/>
          </a:solidFill>
          <a:ln/>
        </p:spPr>
      </p:sp>
      <p:sp>
        <p:nvSpPr>
          <p:cNvPr id="33" name="Text 31"/>
          <p:cNvSpPr/>
          <p:nvPr/>
        </p:nvSpPr>
        <p:spPr>
          <a:xfrm>
            <a:off x="10561320" y="455828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239512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A2540">
                <a:alpha val="9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41248" y="5490972"/>
            <a:ext cx="365760" cy="365760"/>
          </a:xfrm>
          <a:prstGeom prst="ellipse">
            <a:avLst/>
          </a:prstGeom>
          <a:solidFill>
            <a:srgbClr val="2E9E5B"/>
          </a:solidFill>
          <a:ln/>
        </p:spPr>
      </p:sp>
      <p:sp>
        <p:nvSpPr>
          <p:cNvPr id="36" name="Text 34"/>
          <p:cNvSpPr/>
          <p:nvPr/>
        </p:nvSpPr>
        <p:spPr>
          <a:xfrm>
            <a:off x="841248" y="54909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463040" y="53675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rail integration delays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6355080" y="536752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56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D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engagement in discovery; sandbox certification early.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10561320" y="5490972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/>
        </p:spPr>
      </p:sp>
      <p:sp>
        <p:nvSpPr>
          <p:cNvPr id="40" name="Text 38"/>
          <p:cNvSpPr/>
          <p:nvPr/>
        </p:nvSpPr>
        <p:spPr>
          <a:xfrm>
            <a:off x="10561320" y="549097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754880" cy="4754880"/>
          </a:xfrm>
          <a:prstGeom prst="ellipse">
            <a:avLst/>
          </a:prstGeom>
          <a:solidFill>
            <a:srgbClr val="13335B"/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4389120"/>
            <a:ext cx="3108960" cy="3108960"/>
          </a:xfrm>
          <a:prstGeom prst="ellipse">
            <a:avLst/>
          </a:prstGeom>
          <a:solidFill>
            <a:srgbClr val="184272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90 DAYS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9808" y="10972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214884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13335B"/>
          </a:solidFill>
          <a:ln/>
        </p:spPr>
      </p:sp>
      <p:sp>
        <p:nvSpPr>
          <p:cNvPr id="7" name="Shape 5"/>
          <p:cNvSpPr/>
          <p:nvPr/>
        </p:nvSpPr>
        <p:spPr>
          <a:xfrm>
            <a:off x="1033272" y="242316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C4A7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56032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49240" y="23500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801368" y="24048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Mobilize TCS build squad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801368" y="277063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F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onshore/offshore contractors; stand up environments.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55080" y="214884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13335B"/>
          </a:solidFill>
          <a:ln/>
        </p:spPr>
      </p:sp>
      <p:sp>
        <p:nvSpPr>
          <p:cNvPr id="13" name="Shape 10"/>
          <p:cNvSpPr/>
          <p:nvPr/>
        </p:nvSpPr>
        <p:spPr>
          <a:xfrm>
            <a:off x="6611112" y="242316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C4A7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560320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927080" y="23500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7379208" y="24048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target architecture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379208" y="277063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F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Java 21 / Spring Boot reference design &amp; guardrails.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77240" y="374904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13335B"/>
          </a:solidFill>
          <a:ln/>
        </p:spPr>
      </p:sp>
      <p:sp>
        <p:nvSpPr>
          <p:cNvPr id="19" name="Shape 15"/>
          <p:cNvSpPr/>
          <p:nvPr/>
        </p:nvSpPr>
        <p:spPr>
          <a:xfrm>
            <a:off x="1033272" y="402336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C4A7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160520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49240" y="39502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1801368" y="40050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KT &amp; transition plan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1801368" y="437083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F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Jun 2027 handover scope, GCC hiring &amp; FTE roles.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355080" y="3749040"/>
            <a:ext cx="5212080" cy="1371600"/>
          </a:xfrm>
          <a:prstGeom prst="roundRect">
            <a:avLst>
              <a:gd name="adj" fmla="val 6667"/>
            </a:avLst>
          </a:prstGeom>
          <a:solidFill>
            <a:srgbClr val="13335B"/>
          </a:solidFill>
          <a:ln/>
        </p:spPr>
      </p:sp>
      <p:sp>
        <p:nvSpPr>
          <p:cNvPr id="25" name="Shape 20"/>
          <p:cNvSpPr/>
          <p:nvPr/>
        </p:nvSpPr>
        <p:spPr>
          <a:xfrm>
            <a:off x="6611112" y="402336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C4A7E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2" y="4160520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927080" y="395020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0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28" name="Text 22"/>
          <p:cNvSpPr/>
          <p:nvPr/>
        </p:nvSpPr>
        <p:spPr>
          <a:xfrm>
            <a:off x="7379208" y="40050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governance &amp; RAG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7379208" y="437083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F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status dashboard, risk log and cadence.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777240" y="5715000"/>
            <a:ext cx="10607040" cy="0"/>
          </a:xfrm>
          <a:prstGeom prst="line">
            <a:avLst/>
          </a:prstGeom>
          <a:noFill/>
          <a:ln w="12700">
            <a:solidFill>
              <a:srgbClr val="27496F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77240" y="5897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Disbursement System  ·  Java Migration Program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6858000" y="5897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Resourcing handover: June 2027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Migration — Payment Disbursement System</dc:title>
  <dc:subject>PptxGenJS Presentation</dc:subject>
  <dc:creator>Delivery PMO</dc:creator>
  <cp:lastModifiedBy>Delivery PMO</cp:lastModifiedBy>
  <cp:revision>1</cp:revision>
  <dcterms:created xsi:type="dcterms:W3CDTF">2026-06-23T18:02:46Z</dcterms:created>
  <dcterms:modified xsi:type="dcterms:W3CDTF">2026-06-23T18:02:46Z</dcterms:modified>
</cp:coreProperties>
</file>